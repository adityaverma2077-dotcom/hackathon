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58200" y="1051560"/>
            <a:ext cx="2743200" cy="2743200"/>
          </a:xfrm>
          <a:prstGeom prst="ellipse">
            <a:avLst/>
          </a:prstGeom>
          <a:solidFill>
            <a:srgbClr val="22344D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23960" y="1417320"/>
            <a:ext cx="2011680" cy="2011680"/>
          </a:xfrm>
          <a:prstGeom prst="ellipse">
            <a:avLst/>
          </a:prstGeom>
          <a:solidFill>
            <a:srgbClr val="101827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98280" y="1874519"/>
            <a:ext cx="146304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000" b="1" i="0">
                <a:solidFill>
                  <a:srgbClr val="5EEAD4"/>
                </a:solidFill>
                <a:latin typeface="Aptos"/>
              </a:rP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59436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040880" cy="1645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4F8FC"/>
                </a:solidFill>
                <a:latin typeface="Aptos"/>
              </a:rPr>
              <a:t>Find your game.
Find your arena.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64008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A8B7CC"/>
                </a:solidFill>
                <a:latin typeface="Aptos"/>
              </a:rPr>
              <a:t>A tournament discovery website for sports and esports across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663440"/>
            <a:ext cx="2286000" cy="502920"/>
          </a:xfrm>
          <a:prstGeom prst="roundRect">
            <a:avLst/>
          </a:prstGeom>
          <a:solidFill>
            <a:srgbClr val="5EEAD4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800600"/>
            <a:ext cx="2057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827"/>
                </a:solidFill>
                <a:latin typeface="Aptos"/>
              </a:rPr>
              <a:t>PROJECT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0644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Dark navy • Teal • Sky blue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Make competitions easier to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Play Near brings sports and esports discovery into one simple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3429000" cy="237744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EAD4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2926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4F8FC"/>
                </a:solidFill>
                <a:latin typeface="Aptos"/>
              </a:rPr>
              <a:t>Scattered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2926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8B7CC"/>
                </a:solidFill>
                <a:latin typeface="Aptos"/>
              </a:rPr>
              <a:t>Players may need to check multiple federation, league, and organiser websites.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606040"/>
            <a:ext cx="3429000" cy="237744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85292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EAD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37560"/>
            <a:ext cx="2926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4F8FC"/>
                </a:solidFill>
                <a:latin typeface="Aptos"/>
              </a:rPr>
              <a:t>Too many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886200"/>
            <a:ext cx="2926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8B7CC"/>
                </a:solidFill>
                <a:latin typeface="Aptos"/>
              </a:rPr>
              <a:t>A clear set of game, location, and category filters helps narrow the 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606040"/>
            <a:ext cx="3429000" cy="237744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5292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EAD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37560"/>
            <a:ext cx="2926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4F8FC"/>
                </a:solidFill>
                <a:latin typeface="Aptos"/>
              </a:rPr>
              <a:t>One starting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886200"/>
            <a:ext cx="29260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8B7CC"/>
                </a:solidFill>
                <a:latin typeface="Aptos"/>
              </a:rPr>
              <a:t>Play Near provides a single interface for browsing illustrative event listings and official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PRODUCT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One place to find your next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A responsive landing page built around a clear path from discovery to official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475488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Aptos"/>
              </a:rPr>
              <a:t>CORE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4069080" cy="22402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Choose indoor sports, outdoor sports, or esports</a:t>
            </a:r>
          </a:p>
          <a:p>
            <a:pPr>
              <a:spcAft>
                <a:spcPts val="15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Search by tournament, game, or city</a:t>
            </a:r>
          </a:p>
          <a:p>
            <a:pPr>
              <a:spcAft>
                <a:spcPts val="15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Filter by game, state / UT, category, and event status</a:t>
            </a:r>
          </a:p>
          <a:p>
            <a:pPr>
              <a:spcAft>
                <a:spcPts val="15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•  Open official-source links for further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423160"/>
            <a:ext cx="539496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697480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EEAD4"/>
                </a:solidFill>
                <a:latin typeface="Aptos"/>
              </a:rPr>
              <a:t>PLAY NEAR  /  TOURNAMENT FINDER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4612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47872"/>
            <a:ext cx="1371600" cy="502920"/>
          </a:xfrm>
          <a:prstGeom prst="roundRect">
            <a:avLst/>
          </a:prstGeom>
          <a:solidFill>
            <a:srgbClr val="22344D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1188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4F8FC"/>
                </a:solidFill>
                <a:latin typeface="Aptos"/>
              </a:rPr>
              <a:t>Tournament, game, city…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24612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GAME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547872"/>
            <a:ext cx="1371600" cy="502920"/>
          </a:xfrm>
          <a:prstGeom prst="roundRect">
            <a:avLst/>
          </a:prstGeom>
          <a:solidFill>
            <a:srgbClr val="22344D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703320"/>
            <a:ext cx="1188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4F8FC"/>
                </a:solidFill>
                <a:latin typeface="Aptos"/>
              </a:rPr>
              <a:t>All games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24612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STATE / 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547872"/>
            <a:ext cx="1371600" cy="502920"/>
          </a:xfrm>
          <a:prstGeom prst="roundRect">
            <a:avLst/>
          </a:prstGeom>
          <a:solidFill>
            <a:srgbClr val="22344D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703320"/>
            <a:ext cx="1188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F4F8FC"/>
                </a:solidFill>
                <a:latin typeface="Aptos"/>
              </a:rPr>
              <a:t>All India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343400"/>
            <a:ext cx="4709160" cy="457200"/>
          </a:xfrm>
          <a:prstGeom prst="roundRect">
            <a:avLst/>
          </a:prstGeom>
          <a:solidFill>
            <a:srgbClr val="101827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42569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EAD4"/>
                </a:solidFill>
                <a:latin typeface="Aptos"/>
              </a:rPr>
              <a:t>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34840"/>
            <a:ext cx="2926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8FC"/>
                </a:solidFill>
                <a:latin typeface="Aptos"/>
              </a:rPr>
              <a:t>Open Chess Championship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453128"/>
            <a:ext cx="1143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8B7CC"/>
                </a:solidFill>
                <a:latin typeface="Aptos"/>
              </a:rPr>
              <a:t>New Delhi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937760"/>
            <a:ext cx="4709160" cy="457200"/>
          </a:xfrm>
          <a:prstGeom prst="roundRect">
            <a:avLst/>
          </a:prstGeom>
          <a:solidFill>
            <a:srgbClr val="101827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02005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EEAD4"/>
                </a:solidFill>
                <a:latin typeface="Aptos"/>
              </a:rPr>
              <a:t>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029200"/>
            <a:ext cx="2926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4F8FC"/>
                </a:solidFill>
                <a:latin typeface="Aptos"/>
              </a:rPr>
              <a:t>Badminton State 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047488"/>
            <a:ext cx="1143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A8B7CC"/>
                </a:solidFill>
                <a:latin typeface="Aptos"/>
              </a:rPr>
              <a:t>Mumbai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GAME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Three arenas. Fifteen games.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The current demo catalogue spans indoor sports, outdoor sports, and esports.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342900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640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5EEAD4"/>
                </a:solidFill>
                <a:latin typeface="Aptos"/>
              </a:rPr>
              <a:t>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INDOOR SPORTS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834640" cy="1600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Badminton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Chess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Table Tennis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Basketball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Pickleball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514600"/>
            <a:ext cx="342900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743200"/>
            <a:ext cx="640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7AA7FF"/>
                </a:solidFill>
                <a:latin typeface="Aptos"/>
              </a:rPr>
              <a:t>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4747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OUTDOOR SPORTS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977639"/>
            <a:ext cx="2834640" cy="1600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Cricket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Football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Tennis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Athletics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Kabaddi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514600"/>
            <a:ext cx="3429000" cy="3337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640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5EEAD4"/>
                </a:solidFill>
                <a:latin typeface="Aptos"/>
              </a:rPr>
              <a:t>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747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ESPORTS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977639"/>
            <a:ext cx="2834640" cy="16002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BGMI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Free Fire MAX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Valorant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Call of Duty: Mobile</a:t>
            </a:r>
          </a:p>
          <a:p>
            <a:pPr>
              <a:spcAft>
                <a:spcPts val="500"/>
              </a:spcAft>
              <a:defRPr sz="1300">
                <a:solidFill>
                  <a:srgbClr val="A8B7CC"/>
                </a:solidFill>
                <a:latin typeface="Aptos"/>
              </a:defRPr>
            </a:pPr>
            <a:r>
              <a:t>•  Counter-Strike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Fast filters. Clear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Interactive controls help visitors narrow down the event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3429000" cy="132588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EEAD4"/>
                </a:solidFill>
                <a:latin typeface="Aptos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0088"/>
            <a:ext cx="2971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Match tournament names, games, cities, states, and descriptions.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23160"/>
            <a:ext cx="3429000" cy="132588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58775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AA7FF"/>
                </a:solidFill>
                <a:latin typeface="Aptos"/>
              </a:rPr>
              <a:t>Game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990088"/>
            <a:ext cx="2971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Focus on a specific sport or esports title.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423160"/>
            <a:ext cx="3429000" cy="132588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58775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EEAD4"/>
                </a:solidFill>
                <a:latin typeface="Aptos"/>
              </a:rPr>
              <a:t>State / 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990088"/>
            <a:ext cx="2971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Browse listings by Indian state or union territory.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23360"/>
            <a:ext cx="3429000" cy="132588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18795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EEAD4"/>
                </a:solidFill>
                <a:latin typeface="Aptos"/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590288"/>
            <a:ext cx="2971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Switch between indoor, outdoor, and esports.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023360"/>
            <a:ext cx="3429000" cy="132588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418795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AA7FF"/>
                </a:solidFill>
                <a:latin typeface="Aptos"/>
              </a:rPr>
              <a:t>Event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4590288"/>
            <a:ext cx="2971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Show all, upcoming, or past demo events.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4023360"/>
            <a:ext cx="3429000" cy="132588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76488" y="4187952"/>
            <a:ext cx="2926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EEAD4"/>
                </a:solidFill>
                <a:latin typeface="Aptos"/>
              </a:rPr>
              <a:t>Reset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4590288"/>
            <a:ext cx="2971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Clear filters quickly and return to the full 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VISUAL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A modern, focused visual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The refreshed palette balances contrast, energy, and readability.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3291840" cy="1051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" y="2724912"/>
            <a:ext cx="713232" cy="713232"/>
          </a:xfrm>
          <a:prstGeom prst="roundRect">
            <a:avLst/>
          </a:prstGeom>
          <a:solidFill>
            <a:srgbClr val="101827"/>
          </a:solidFill>
          <a:ln>
            <a:solidFill>
              <a:srgbClr val="10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1368" y="277063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C"/>
                </a:solidFill>
                <a:latin typeface="Aptos"/>
              </a:rPr>
              <a:t>Deep navy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309067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B7CC"/>
                </a:solidFill>
                <a:latin typeface="Aptos"/>
              </a:rPr>
              <a:t>#101827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560320"/>
            <a:ext cx="3291840" cy="1051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0871" y="2724912"/>
            <a:ext cx="713232" cy="713232"/>
          </a:xfrm>
          <a:prstGeom prst="roundRect">
            <a:avLst/>
          </a:prstGeom>
          <a:solidFill>
            <a:srgbClr val="182338"/>
          </a:solidFill>
          <a:ln>
            <a:solidFill>
              <a:srgbClr val="18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0407" y="277063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C"/>
                </a:solidFill>
                <a:latin typeface="Aptos"/>
              </a:rPr>
              <a:t>Panel navy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309067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B7CC"/>
                </a:solidFill>
                <a:latin typeface="Aptos"/>
              </a:rPr>
              <a:t>#182338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2560320"/>
            <a:ext cx="3291840" cy="1051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9911" y="2724912"/>
            <a:ext cx="713232" cy="713232"/>
          </a:xfrm>
          <a:prstGeom prst="roundRect">
            <a:avLst/>
          </a:prstGeom>
          <a:solidFill>
            <a:srgbClr val="5EEAD4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7" y="277063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C"/>
                </a:solidFill>
                <a:latin typeface="Aptos"/>
              </a:rPr>
              <a:t>Teal accent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7" y="309067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B7CC"/>
                </a:solidFill>
                <a:latin typeface="Aptos"/>
              </a:rPr>
              <a:t>#5EEAD4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3291840" cy="1051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" y="4142231"/>
            <a:ext cx="713232" cy="713232"/>
          </a:xfrm>
          <a:prstGeom prst="roundRect">
            <a:avLst/>
          </a:prstGeom>
          <a:solidFill>
            <a:srgbClr val="7AA7FF"/>
          </a:solidFill>
          <a:ln>
            <a:solidFill>
              <a:srgbClr val="7A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01368" y="418795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C"/>
                </a:solidFill>
                <a:latin typeface="Aptos"/>
              </a:rPr>
              <a:t>Sky blue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1368" y="450799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B7CC"/>
                </a:solidFill>
                <a:latin typeface="Aptos"/>
              </a:rPr>
              <a:t>#7AA7FF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79" y="3977639"/>
            <a:ext cx="3291840" cy="1051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90871" y="4142231"/>
            <a:ext cx="713232" cy="713232"/>
          </a:xfrm>
          <a:prstGeom prst="roundRect">
            <a:avLst/>
          </a:prstGeom>
          <a:solidFill>
            <a:srgbClr val="F4F8FC"/>
          </a:solidFill>
          <a:ln>
            <a:solidFill>
              <a:srgbClr val="F4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0407" y="418795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C"/>
                </a:solidFill>
                <a:latin typeface="Aptos"/>
              </a:rPr>
              <a:t>Soft white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0407" y="450799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B7CC"/>
                </a:solidFill>
                <a:latin typeface="Aptos"/>
              </a:rPr>
              <a:t>#F4F8FC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977639"/>
            <a:ext cx="3291840" cy="105156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39911" y="4142231"/>
            <a:ext cx="713232" cy="713232"/>
          </a:xfrm>
          <a:prstGeom prst="roundRect">
            <a:avLst/>
          </a:prstGeom>
          <a:solidFill>
            <a:srgbClr val="A8B7CC"/>
          </a:solidFill>
          <a:ln>
            <a:solidFill>
              <a:srgbClr val="A8B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7" y="418795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4F8FC"/>
                </a:solidFill>
                <a:latin typeface="Aptos"/>
              </a:rPr>
              <a:t>Muted slate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7" y="450799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8B7CC"/>
                </a:solidFill>
                <a:latin typeface="Aptos"/>
              </a:rPr>
              <a:t>#A8B7CC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EEAD4"/>
                </a:solidFill>
                <a:latin typeface="Aptos"/>
              </a:rPr>
              <a:t>Design priorities: readable type • responsive layout • keyboard focus • consistent spacing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TRUST &amp;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Discovery first. Verify before you enter.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The site points visitors toward official sources, while clearly marking sample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5120640" cy="301752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EEAD4"/>
                </a:solidFill>
                <a:latin typeface="Aptos"/>
              </a:rPr>
              <a:t>SAFETY BUILT INTO THE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46120"/>
            <a:ext cx="4297680" cy="1737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Official-source links open in a separate tab</a:t>
            </a:r>
          </a:p>
          <a:p>
            <a:pPr>
              <a:spcAft>
                <a:spcPts val="14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Registration details should be checked with organisers</a:t>
            </a:r>
          </a:p>
          <a:p>
            <a:pPr>
              <a:spcAft>
                <a:spcPts val="14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Never share passwords or one-time passcodes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23160"/>
            <a:ext cx="5120640" cy="3017520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24912"/>
            <a:ext cx="4389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0C879"/>
                </a:solidFill>
                <a:latin typeface="Aptos"/>
              </a:rPr>
              <a:t>CURRENT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246120"/>
            <a:ext cx="4297680" cy="1737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Event cards are illustrative demo data</a:t>
            </a:r>
          </a:p>
          <a:p>
            <a:pPr>
              <a:spcAft>
                <a:spcPts val="14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Dates, venues, and availability are not live-verified</a:t>
            </a:r>
          </a:p>
          <a:p>
            <a:pPr>
              <a:spcAft>
                <a:spcPts val="1400"/>
              </a:spcAft>
              <a:defRPr sz="1500">
                <a:solidFill>
                  <a:srgbClr val="F4F8FC"/>
                </a:solidFill>
                <a:latin typeface="Aptos"/>
              </a:defRPr>
            </a:pPr>
            <a:r>
              <a:t>•  Live listings would need a reliable data source or organiser feed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0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92608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337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1155680" cy="13716"/>
          </a:xfrm>
          <a:prstGeom prst="rect">
            <a:avLst/>
          </a:prstGeom>
          <a:solidFill>
            <a:srgbClr val="2C3C54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8B7CC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4F8FC"/>
                </a:solidFill>
                <a:latin typeface="Aptos"/>
              </a:rPr>
              <a:t>From demo to a useful live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8B7CC"/>
                </a:solidFill>
                <a:latin typeface="Aptos"/>
              </a:rPr>
              <a:t>Suggested next steps for making Play Near more reliable and launch-ready.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77440"/>
            <a:ext cx="10515600" cy="621792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23744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1460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Verify event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23744"/>
            <a:ext cx="6583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Connect official calendars or organiser-submitted listings.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82112"/>
            <a:ext cx="10515600" cy="621792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28416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319272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Add real registration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328416"/>
            <a:ext cx="6583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Use event-specific registration URLs instead of generic source links.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86784"/>
            <a:ext cx="10515600" cy="621792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33088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123944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Improve local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133088"/>
            <a:ext cx="6583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Add city radius, venue details, and clearer location matching.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91456"/>
            <a:ext cx="10515600" cy="621792"/>
          </a:xfrm>
          <a:prstGeom prst="roundRect">
            <a:avLst/>
          </a:prstGeom>
          <a:solidFill>
            <a:srgbClr val="182338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37760"/>
            <a:ext cx="5486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EEAD4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928616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8FC"/>
                </a:solidFill>
                <a:latin typeface="Aptos"/>
              </a:rPr>
              <a:t>Keep listings 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937760"/>
            <a:ext cx="6583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8B7CC"/>
                </a:solidFill>
                <a:latin typeface="Aptos"/>
              </a:rPr>
              <a:t>Show last-updated dates and remove expired or cancelled events.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417320"/>
            <a:ext cx="2377440" cy="2377440"/>
          </a:xfrm>
          <a:prstGeom prst="ellipse">
            <a:avLst/>
          </a:prstGeom>
          <a:solidFill>
            <a:srgbClr val="22344D"/>
          </a:solidFill>
          <a:ln>
            <a:solidFill>
              <a:srgbClr val="2C3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1737360"/>
            <a:ext cx="1737360" cy="1737360"/>
          </a:xfrm>
          <a:prstGeom prst="ellipse">
            <a:avLst/>
          </a:prstGeom>
          <a:solidFill>
            <a:srgbClr val="101827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17152" y="2121408"/>
            <a:ext cx="114300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5EEAD4"/>
                </a:solidFill>
                <a:latin typeface="Aptos"/>
              </a:rPr>
              <a:t>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4F8FC"/>
                </a:solidFill>
                <a:latin typeface="Aptos"/>
              </a:rPr>
              <a:t>PLAY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777240"/>
            <a:ext cx="1828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5EEAD4"/>
                </a:solidFill>
                <a:latin typeface="Aptos"/>
              </a:rPr>
              <a:t>NEAR.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7040880" cy="1554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4F8FC"/>
                </a:solidFill>
                <a:latin typeface="Aptos"/>
              </a:rPr>
              <a:t>Find your game.
Find your arena.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64922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A8B7CC"/>
                </a:solidFill>
                <a:latin typeface="Aptos"/>
              </a:rPr>
              <a:t>A clearer starting point for sports and esports discovery across India.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2103120" cy="502920"/>
          </a:xfrm>
          <a:prstGeom prst="roundRect">
            <a:avLst/>
          </a:prstGeom>
          <a:solidFill>
            <a:srgbClr val="5EEAD4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02920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01827"/>
                </a:solidFill>
                <a:latin typeface="Aptos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4389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8B7CC"/>
                </a:solidFill>
                <a:latin typeface="Aptos"/>
              </a:rPr>
              <a:t>PLAY NEAR  • 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